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452360" y="914400"/>
            <a:ext cx="3840480" cy="434340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38D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90688" y="1243584"/>
            <a:ext cx="3163824" cy="3127248"/>
          </a:xfrm>
          <a:prstGeom prst="rect">
            <a:avLst/>
          </a:prstGeom>
          <a:solidFill>
            <a:srgbClr val="050A12"/>
          </a:solidFill>
          <a:ln w="16510">
            <a:solidFill>
              <a:srgbClr val="5B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7973568" y="1572768"/>
            <a:ext cx="2798064" cy="0"/>
          </a:xfrm>
          <a:prstGeom prst="line">
            <a:avLst/>
          </a:prstGeom>
          <a:ln w="7620">
            <a:solidFill>
              <a:srgbClr val="1E3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973568" y="1965960"/>
            <a:ext cx="2798064" cy="0"/>
          </a:xfrm>
          <a:prstGeom prst="line">
            <a:avLst/>
          </a:prstGeom>
          <a:ln w="7620">
            <a:solidFill>
              <a:srgbClr val="1E3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973568" y="2359152"/>
            <a:ext cx="2798064" cy="0"/>
          </a:xfrm>
          <a:prstGeom prst="line">
            <a:avLst/>
          </a:prstGeom>
          <a:ln w="7620">
            <a:solidFill>
              <a:srgbClr val="1E3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73568" y="2752344"/>
            <a:ext cx="2798064" cy="0"/>
          </a:xfrm>
          <a:prstGeom prst="line">
            <a:avLst/>
          </a:prstGeom>
          <a:ln w="7620">
            <a:solidFill>
              <a:srgbClr val="1E3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973568" y="3145536"/>
            <a:ext cx="2798064" cy="0"/>
          </a:xfrm>
          <a:prstGeom prst="line">
            <a:avLst/>
          </a:prstGeom>
          <a:ln w="7620">
            <a:solidFill>
              <a:srgbClr val="1E3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973568" y="3538728"/>
            <a:ext cx="2798064" cy="0"/>
          </a:xfrm>
          <a:prstGeom prst="line">
            <a:avLst/>
          </a:prstGeom>
          <a:ln w="7620">
            <a:solidFill>
              <a:srgbClr val="1E3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973568" y="3931920"/>
            <a:ext cx="2798064" cy="0"/>
          </a:xfrm>
          <a:prstGeom prst="line">
            <a:avLst/>
          </a:prstGeom>
          <a:ln w="7620">
            <a:solidFill>
              <a:srgbClr val="1E3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028431" y="1444752"/>
            <a:ext cx="0" cy="2715768"/>
          </a:xfrm>
          <a:prstGeom prst="line">
            <a:avLst/>
          </a:prstGeom>
          <a:ln w="7620">
            <a:solidFill>
              <a:srgbClr val="1E3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394192" y="1444752"/>
            <a:ext cx="0" cy="2715768"/>
          </a:xfrm>
          <a:prstGeom prst="line">
            <a:avLst/>
          </a:prstGeom>
          <a:ln w="7620">
            <a:solidFill>
              <a:srgbClr val="1E3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59952" y="1444752"/>
            <a:ext cx="0" cy="2715768"/>
          </a:xfrm>
          <a:prstGeom prst="line">
            <a:avLst/>
          </a:prstGeom>
          <a:ln w="7620">
            <a:solidFill>
              <a:srgbClr val="1E3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25712" y="1444752"/>
            <a:ext cx="0" cy="2715768"/>
          </a:xfrm>
          <a:prstGeom prst="line">
            <a:avLst/>
          </a:prstGeom>
          <a:ln w="7620">
            <a:solidFill>
              <a:srgbClr val="1E3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491472" y="1444752"/>
            <a:ext cx="0" cy="2715768"/>
          </a:xfrm>
          <a:prstGeom prst="line">
            <a:avLst/>
          </a:prstGeom>
          <a:ln w="7620">
            <a:solidFill>
              <a:srgbClr val="1E3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857232" y="1444752"/>
            <a:ext cx="0" cy="2715768"/>
          </a:xfrm>
          <a:prstGeom prst="line">
            <a:avLst/>
          </a:prstGeom>
          <a:ln w="7620">
            <a:solidFill>
              <a:srgbClr val="1E3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222992" y="1444752"/>
            <a:ext cx="0" cy="2715768"/>
          </a:xfrm>
          <a:prstGeom prst="line">
            <a:avLst/>
          </a:prstGeom>
          <a:ln w="7620">
            <a:solidFill>
              <a:srgbClr val="1E3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588752" y="1444752"/>
            <a:ext cx="0" cy="2715768"/>
          </a:xfrm>
          <a:prstGeom prst="line">
            <a:avLst/>
          </a:prstGeom>
          <a:ln w="7620">
            <a:solidFill>
              <a:srgbClr val="1E3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028431" y="2880360"/>
            <a:ext cx="1435609" cy="1161288"/>
          </a:xfrm>
          <a:prstGeom prst="line">
            <a:avLst/>
          </a:prstGeom>
          <a:ln w="30480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9464040" y="1828800"/>
            <a:ext cx="1280160" cy="1051560"/>
          </a:xfrm>
          <a:prstGeom prst="line">
            <a:avLst/>
          </a:prstGeom>
          <a:ln w="30480">
            <a:solidFill>
              <a:srgbClr val="38D2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9354312" y="2770632"/>
            <a:ext cx="201168" cy="201168"/>
          </a:xfrm>
          <a:prstGeom prst="ellipse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43616" y="1728216"/>
            <a:ext cx="201168" cy="201168"/>
          </a:xfrm>
          <a:prstGeom prst="ellipse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749808"/>
            <a:ext cx="5943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38D2E2"/>
                </a:solidFill>
                <a:latin typeface="Aptos"/>
              </a:rPr>
              <a:t>APC  •  TECHNICAL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1417320"/>
            <a:ext cx="649224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1F5F9"/>
                </a:solidFill>
                <a:latin typeface="Aptos"/>
              </a:rPr>
              <a:t>Working of
Display Devices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3154680"/>
            <a:ext cx="612648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AAB8CA"/>
                </a:solidFill>
                <a:latin typeface="Aptos"/>
              </a:rPr>
              <a:t>with special reference to
Cathode-Ray Tubes (CRTs)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" y="4343400"/>
            <a:ext cx="713232" cy="54864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617720"/>
            <a:ext cx="621792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1F5F9"/>
                </a:solidFill>
                <a:latin typeface="Aptos"/>
              </a:rPr>
              <a:t>A study of how electronic signals become visible 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6080760"/>
            <a:ext cx="5029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AB8CA"/>
                </a:solidFill>
                <a:latin typeface="Aptos"/>
              </a:rPr>
              <a:t>Prepared for classroom presentation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AB8CA"/>
                </a:solidFill>
                <a:latin typeface="Aptos"/>
              </a:rPr>
              <a:t>01  / 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8D2E2"/>
                </a:solidFill>
                <a:latin typeface="Aptos"/>
              </a:rPr>
              <a:t>01 —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5F9"/>
                </a:solidFill>
                <a:latin typeface="Aptos"/>
              </a:rPr>
              <a:t>A display is the interface between data and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B8CA"/>
                </a:solidFill>
                <a:latin typeface="Aptos"/>
              </a:rPr>
              <a:t>The same digital information can be rendered through very different physical mechanisms.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594360" cy="41148"/>
          </a:xfrm>
          <a:prstGeom prst="rect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AB8CA"/>
                </a:solidFill>
                <a:latin typeface="Aptos"/>
              </a:rPr>
              <a:t>02  /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331720"/>
            <a:ext cx="2240280" cy="132588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5B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42032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5B8DFF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898648"/>
            <a:ext cx="193852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1F5F9"/>
                </a:solidFill>
                <a:latin typeface="Aptos"/>
              </a:rPr>
              <a:t>Text • image • video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80944" y="2990088"/>
            <a:ext cx="466344" cy="0"/>
          </a:xfrm>
          <a:prstGeom prst="line">
            <a:avLst/>
          </a:prstGeom>
          <a:ln w="20320">
            <a:solidFill>
              <a:srgbClr val="AA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20440" y="2331720"/>
            <a:ext cx="2240280" cy="132588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38D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2542032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8D2E2"/>
                </a:solidFill>
                <a:latin typeface="Aptos"/>
              </a:rPr>
              <a:t>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2898648"/>
            <a:ext cx="193852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1F5F9"/>
                </a:solidFill>
                <a:latin typeface="Aptos"/>
              </a:rPr>
              <a:t>Pixel / timing 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88152" y="2990088"/>
            <a:ext cx="466344" cy="0"/>
          </a:xfrm>
          <a:prstGeom prst="line">
            <a:avLst/>
          </a:prstGeom>
          <a:ln w="20320">
            <a:solidFill>
              <a:srgbClr val="AA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27648" y="2331720"/>
            <a:ext cx="2240280" cy="132588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542032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BE5C"/>
                </a:solidFill>
                <a:latin typeface="Aptos"/>
              </a:rPr>
              <a:t>DISPLAY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898648"/>
            <a:ext cx="193852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1F5F9"/>
                </a:solidFill>
                <a:latin typeface="Aptos"/>
              </a:rPr>
              <a:t>Light is generated or controlled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95360" y="2990088"/>
            <a:ext cx="466344" cy="0"/>
          </a:xfrm>
          <a:prstGeom prst="line">
            <a:avLst/>
          </a:prstGeom>
          <a:ln w="20320">
            <a:solidFill>
              <a:srgbClr val="AA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34856" y="2331720"/>
            <a:ext cx="2240280" cy="132588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66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44584" y="2542032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66DCA5"/>
                </a:solidFill>
                <a:latin typeface="Aptos"/>
              </a:rPr>
              <a:t>PERCEPTION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898648"/>
            <a:ext cx="1938528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1F5F9"/>
                </a:solidFill>
                <a:latin typeface="Aptos"/>
              </a:rPr>
              <a:t>The eye sees an image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251960"/>
            <a:ext cx="3383280" cy="141732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251960"/>
            <a:ext cx="54864" cy="1417320"/>
          </a:xfrm>
          <a:prstGeom prst="rect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4416552"/>
            <a:ext cx="29992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38D2E2"/>
                </a:solidFill>
                <a:latin typeface="Aptos"/>
              </a:rPr>
              <a:t>Core idea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4846320"/>
            <a:ext cx="299923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Aptos"/>
              </a:rPr>
              <a:t>A display converts a signal into a visual output.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16552" y="4251960"/>
            <a:ext cx="3383280" cy="141732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16552" y="4251960"/>
            <a:ext cx="54864" cy="141732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4416552"/>
            <a:ext cx="29992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BE5C"/>
                </a:solidFill>
                <a:latin typeface="Aptos"/>
              </a:rPr>
              <a:t>Key distinction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846320"/>
            <a:ext cx="299923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Aptos"/>
              </a:rPr>
              <a:t>Some displays emit light; others modulate a backlight or reflect ambient light.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55864" y="4251960"/>
            <a:ext cx="3383280" cy="141732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5864" y="4251960"/>
            <a:ext cx="54864" cy="1417320"/>
          </a:xfrm>
          <a:prstGeom prst="rect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7032" y="4416552"/>
            <a:ext cx="299923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66DCA5"/>
                </a:solidFill>
                <a:latin typeface="Aptos"/>
              </a:rPr>
              <a:t>Why CRTs matter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2" y="4846320"/>
            <a:ext cx="2999232" cy="7040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Aptos"/>
              </a:rPr>
              <a:t>CRTs use a moving electron beam and a phosphor-coated screen.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8D2E2"/>
                </a:solidFill>
                <a:latin typeface="Aptos"/>
              </a:rPr>
              <a:t>02 — THE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5F9"/>
                </a:solidFill>
                <a:latin typeface="Aptos"/>
              </a:rPr>
              <a:t>Display devices: different physics, same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B8CA"/>
                </a:solidFill>
                <a:latin typeface="Aptos"/>
              </a:rPr>
              <a:t>A useful comparison begins with how each technology creates the visible image.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594360" cy="41148"/>
          </a:xfrm>
          <a:prstGeom prst="rect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AB8CA"/>
                </a:solidFill>
                <a:latin typeface="Aptos"/>
              </a:rPr>
              <a:t>03  /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29968"/>
            <a:ext cx="10652760" cy="59436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148840"/>
            <a:ext cx="1417320" cy="347472"/>
          </a:xfrm>
          <a:prstGeom prst="roundRect">
            <a:avLst/>
          </a:prstGeom>
          <a:solidFill>
            <a:srgbClr val="1D2B3F"/>
          </a:solidFill>
          <a:ln w="16510">
            <a:solidFill>
              <a:srgbClr val="38D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203704"/>
            <a:ext cx="1271016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38D2E2"/>
                </a:solidFill>
                <a:latin typeface="Aptos"/>
              </a:rPr>
              <a:t>CRT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130552"/>
            <a:ext cx="48006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Aptos"/>
              </a:rPr>
              <a:t>Electron beam excites phosphor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130552"/>
            <a:ext cx="3429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AB8CA"/>
                </a:solidFill>
                <a:latin typeface="Aptos"/>
              </a:rPr>
              <a:t>Emissive • bulky • deep blacks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2779776"/>
            <a:ext cx="10652760" cy="59436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2898648"/>
            <a:ext cx="1417320" cy="347472"/>
          </a:xfrm>
          <a:prstGeom prst="roundRect">
            <a:avLst/>
          </a:prstGeom>
          <a:solidFill>
            <a:srgbClr val="1D2B3F"/>
          </a:solidFill>
          <a:ln w="16510">
            <a:solidFill>
              <a:srgbClr val="5B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953512"/>
            <a:ext cx="1271016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5B8DFF"/>
                </a:solidFill>
                <a:latin typeface="Aptos"/>
              </a:rPr>
              <a:t>LCD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880360"/>
            <a:ext cx="48006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Aptos"/>
              </a:rPr>
              <a:t>Liquid crystals control light from a backlight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880360"/>
            <a:ext cx="3429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AB8CA"/>
                </a:solidFill>
                <a:latin typeface="Aptos"/>
              </a:rPr>
              <a:t>Light-modulating • thin • efficient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3529584"/>
            <a:ext cx="10652760" cy="59436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3648456"/>
            <a:ext cx="1417320" cy="347472"/>
          </a:xfrm>
          <a:prstGeom prst="roundRect">
            <a:avLst/>
          </a:prstGeom>
          <a:solidFill>
            <a:srgbClr val="1D2B3F"/>
          </a:solidFill>
          <a:ln w="1651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703320"/>
            <a:ext cx="1271016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BE5C"/>
                </a:solidFill>
                <a:latin typeface="Aptos"/>
              </a:rPr>
              <a:t>LED display*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630168"/>
            <a:ext cx="48006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Aptos"/>
              </a:rPr>
              <a:t>LEDs produce the image directly, or backlight an LCD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630168"/>
            <a:ext cx="3429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AB8CA"/>
                </a:solidFill>
                <a:latin typeface="Aptos"/>
              </a:rPr>
              <a:t>Bright • scalable • terminology varies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279392"/>
            <a:ext cx="10652760" cy="59436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4400" y="4398264"/>
            <a:ext cx="1417320" cy="347472"/>
          </a:xfrm>
          <a:prstGeom prst="roundRect">
            <a:avLst/>
          </a:prstGeom>
          <a:solidFill>
            <a:srgbClr val="1D2B3F"/>
          </a:solidFill>
          <a:ln w="16510">
            <a:solidFill>
              <a:srgbClr val="66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4453128"/>
            <a:ext cx="1271016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66DCA5"/>
                </a:solidFill>
                <a:latin typeface="Aptos"/>
              </a:rPr>
              <a:t>OLED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4379976"/>
            <a:ext cx="48006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Aptos"/>
              </a:rPr>
              <a:t>Organic pixels emit their own light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4379976"/>
            <a:ext cx="3429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AB8CA"/>
                </a:solidFill>
                <a:latin typeface="Aptos"/>
              </a:rPr>
              <a:t>Thin • high contrast • pixel-level control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5029200"/>
            <a:ext cx="10652760" cy="59436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" y="5148072"/>
            <a:ext cx="1417320" cy="347472"/>
          </a:xfrm>
          <a:prstGeom prst="roundRect">
            <a:avLst/>
          </a:prstGeom>
          <a:solidFill>
            <a:srgbClr val="1D2B3F"/>
          </a:solidFill>
          <a:ln w="16510">
            <a:solidFill>
              <a:srgbClr val="FF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5202936"/>
            <a:ext cx="1271016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7070"/>
                </a:solidFill>
                <a:latin typeface="Aptos"/>
              </a:rPr>
              <a:t>E-paper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5129784"/>
            <a:ext cx="48006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Aptos"/>
              </a:rPr>
              <a:t>Reflects ambient light using electrically moved particles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5129784"/>
            <a:ext cx="3429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AB8CA"/>
                </a:solidFill>
                <a:latin typeface="Aptos"/>
              </a:rPr>
              <a:t>Low power for static pages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98932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AAB8CA"/>
                </a:solidFill>
                <a:latin typeface="Aptos"/>
              </a:rPr>
              <a:t>*In consumer language, “LED TV/monitor” usually means an LCD panel with LED backlighting.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8D2E2"/>
                </a:solidFill>
                <a:latin typeface="Aptos"/>
              </a:rPr>
              <a:t>03 — CRT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5F9"/>
                </a:solidFill>
                <a:latin typeface="Aptos"/>
              </a:rPr>
              <a:t>Inside a cathode-ray tube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B8CA"/>
                </a:solidFill>
                <a:latin typeface="Aptos"/>
              </a:rPr>
              <a:t>A CRT is an evacuated glass tube that directs electrons onto a phosphor-coated screen.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594360" cy="41148"/>
          </a:xfrm>
          <a:prstGeom prst="rect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AB8CA"/>
                </a:solidFill>
                <a:latin typeface="Aptos"/>
              </a:rPr>
              <a:t>04  /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331720"/>
            <a:ext cx="9966960" cy="1920240"/>
          </a:xfrm>
          <a:prstGeom prst="roundRect">
            <a:avLst/>
          </a:prstGeom>
          <a:solidFill>
            <a:srgbClr val="1D2B3F"/>
          </a:solidFill>
          <a:ln w="16510">
            <a:solidFill>
              <a:srgbClr val="5B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34440" y="2560320"/>
            <a:ext cx="1234440" cy="1463040"/>
          </a:xfrm>
          <a:prstGeom prst="rect">
            <a:avLst/>
          </a:prstGeom>
          <a:solidFill>
            <a:srgbClr val="162133"/>
          </a:solidFill>
          <a:ln w="16510">
            <a:solidFill>
              <a:srgbClr val="38D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68880" y="2560320"/>
            <a:ext cx="457200" cy="1463040"/>
          </a:xfrm>
          <a:prstGeom prst="rect">
            <a:avLst/>
          </a:prstGeom>
          <a:solidFill>
            <a:srgbClr val="1D2B3F"/>
          </a:solidFill>
          <a:ln w="1651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80" y="2560320"/>
            <a:ext cx="502920" cy="1463040"/>
          </a:xfrm>
          <a:prstGeom prst="rect">
            <a:avLst/>
          </a:prstGeom>
          <a:solidFill>
            <a:srgbClr val="1D2B3F"/>
          </a:solidFill>
          <a:ln w="1651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2560320"/>
            <a:ext cx="502920" cy="1463040"/>
          </a:xfrm>
          <a:prstGeom prst="rect">
            <a:avLst/>
          </a:prstGeom>
          <a:solidFill>
            <a:srgbClr val="1D2B3F"/>
          </a:solidFill>
          <a:ln w="1651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31920" y="2560320"/>
            <a:ext cx="4846320" cy="1463040"/>
          </a:xfrm>
          <a:prstGeom prst="rect">
            <a:avLst/>
          </a:prstGeom>
          <a:solidFill>
            <a:srgbClr val="050A12"/>
          </a:solidFill>
          <a:ln w="16510">
            <a:solidFill>
              <a:srgbClr val="38D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2487168"/>
            <a:ext cx="1783080" cy="1609344"/>
          </a:xfrm>
          <a:prstGeom prst="rect">
            <a:avLst/>
          </a:prstGeom>
          <a:solidFill>
            <a:srgbClr val="162133"/>
          </a:solidFill>
          <a:ln w="16510">
            <a:solidFill>
              <a:srgbClr val="66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417320" y="3291840"/>
            <a:ext cx="8595360" cy="0"/>
          </a:xfrm>
          <a:prstGeom prst="line">
            <a:avLst/>
          </a:prstGeom>
          <a:ln w="31750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9784080" y="2926080"/>
            <a:ext cx="109728" cy="109728"/>
          </a:xfrm>
          <a:prstGeom prst="ellipse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12680" y="3291840"/>
            <a:ext cx="109728" cy="109728"/>
          </a:xfrm>
          <a:prstGeom prst="ellipse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84080" y="3657600"/>
            <a:ext cx="109728" cy="109728"/>
          </a:xfrm>
          <a:prstGeom prst="ellipse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1938528"/>
            <a:ext cx="1554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8D2E2"/>
                </a:solidFill>
                <a:latin typeface="Aptos"/>
              </a:rPr>
              <a:t>Electron gun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45920" y="2221992"/>
            <a:ext cx="0" cy="310896"/>
          </a:xfrm>
          <a:prstGeom prst="line">
            <a:avLst/>
          </a:prstGeom>
          <a:ln w="16510">
            <a:solidFill>
              <a:srgbClr val="38D2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423160" y="4462272"/>
            <a:ext cx="274320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BE5C"/>
                </a:solidFill>
                <a:latin typeface="Aptos"/>
              </a:rPr>
              <a:t>Focusing &amp; accelerating anodes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46120" y="4041648"/>
            <a:ext cx="274320" cy="374904"/>
          </a:xfrm>
          <a:prstGeom prst="line">
            <a:avLst/>
          </a:prstGeom>
          <a:ln w="16510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40680" y="1938528"/>
            <a:ext cx="1920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5B8DFF"/>
                </a:solidFill>
                <a:latin typeface="Aptos"/>
              </a:rPr>
              <a:t>Deflection system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55080" y="2212848"/>
            <a:ext cx="0" cy="320040"/>
          </a:xfrm>
          <a:prstGeom prst="line">
            <a:avLst/>
          </a:prstGeom>
          <a:ln w="16510">
            <a:solidFill>
              <a:srgbClr val="5B8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732520" y="4462272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66DCA5"/>
                </a:solidFill>
                <a:latin typeface="Aptos"/>
              </a:rPr>
              <a:t>Phosphor screen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601200" y="4114800"/>
            <a:ext cx="0" cy="292608"/>
          </a:xfrm>
          <a:prstGeom prst="line">
            <a:avLst/>
          </a:prstGeom>
          <a:ln w="16510">
            <a:solidFill>
              <a:srgbClr val="66DC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60120" y="5532120"/>
            <a:ext cx="100584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Aptos"/>
              </a:rPr>
              <a:t>Vacuum inside the tube allows electrons to travel with minimal collision with air molecules.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8D2E2"/>
                </a:solidFill>
                <a:latin typeface="Aptos"/>
              </a:rPr>
              <a:t>04 — IMAGE 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5F9"/>
                </a:solidFill>
                <a:latin typeface="Aptos"/>
              </a:rPr>
              <a:t>Step 1: generate and shape the electron beam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B8CA"/>
                </a:solidFill>
                <a:latin typeface="Aptos"/>
              </a:rPr>
              <a:t>The electron gun controls the beam current and focuses electrons into a narrow stream.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594360" cy="41148"/>
          </a:xfrm>
          <a:prstGeom prst="rect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AB8CA"/>
                </a:solidFill>
                <a:latin typeface="Aptos"/>
              </a:rPr>
              <a:t>05  /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240280"/>
            <a:ext cx="2487168" cy="1874519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423160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BE5C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944368"/>
            <a:ext cx="2148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1F5F9"/>
                </a:solidFill>
                <a:latin typeface="Aptos"/>
              </a:rPr>
              <a:t>HEATED CATHODE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337560"/>
            <a:ext cx="2139696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AB8CA"/>
                </a:solidFill>
                <a:latin typeface="Aptos"/>
              </a:rPr>
              <a:t>Releases electrons by thermionic emission.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18688" y="3154680"/>
            <a:ext cx="283464" cy="0"/>
          </a:xfrm>
          <a:prstGeom prst="line">
            <a:avLst/>
          </a:prstGeom>
          <a:ln w="17780">
            <a:solidFill>
              <a:srgbClr val="AA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75304" y="2240280"/>
            <a:ext cx="2487168" cy="1874519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38D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9896" y="2423160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38D2E2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9896" y="2944368"/>
            <a:ext cx="2148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1F5F9"/>
                </a:solidFill>
                <a:latin typeface="Aptos"/>
              </a:rPr>
              <a:t>CONTROL GRID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3337560"/>
            <a:ext cx="2139696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AB8CA"/>
                </a:solidFill>
                <a:latin typeface="Aptos"/>
              </a:rPr>
              <a:t>Varies beam current, controlling brightness.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80760" y="3154680"/>
            <a:ext cx="283464" cy="0"/>
          </a:xfrm>
          <a:prstGeom prst="line">
            <a:avLst/>
          </a:prstGeom>
          <a:ln w="17780">
            <a:solidFill>
              <a:srgbClr val="AA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37376" y="2240280"/>
            <a:ext cx="2487168" cy="1874519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5B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423160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5B8D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944368"/>
            <a:ext cx="2148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1F5F9"/>
                </a:solidFill>
                <a:latin typeface="Aptos"/>
              </a:rPr>
              <a:t>ANODES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337560"/>
            <a:ext cx="2139696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AB8CA"/>
                </a:solidFill>
                <a:latin typeface="Aptos"/>
              </a:rPr>
              <a:t>Accelerate electrons and help focus the beam.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42832" y="3154680"/>
            <a:ext cx="283464" cy="0"/>
          </a:xfrm>
          <a:prstGeom prst="line">
            <a:avLst/>
          </a:prstGeom>
          <a:ln w="17780">
            <a:solidFill>
              <a:srgbClr val="AA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299448" y="2240280"/>
            <a:ext cx="2487168" cy="1874519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66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64040" y="2423160"/>
            <a:ext cx="502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66DCA5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944368"/>
            <a:ext cx="21488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1F5F9"/>
                </a:solidFill>
                <a:latin typeface="Aptos"/>
              </a:rPr>
              <a:t>FOCUSED BEAM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337560"/>
            <a:ext cx="2139696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AAB8CA"/>
                </a:solidFill>
                <a:latin typeface="Aptos"/>
              </a:rPr>
              <a:t>A narrow stream travels toward the screen.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4709160"/>
            <a:ext cx="10149840" cy="822960"/>
          </a:xfrm>
          <a:prstGeom prst="roundRect">
            <a:avLst/>
          </a:prstGeom>
          <a:solidFill>
            <a:srgbClr val="1D2B3F"/>
          </a:solidFill>
          <a:ln w="1651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7008" y="4956048"/>
            <a:ext cx="9646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Aptos"/>
              </a:rPr>
              <a:t>Brightness is primarily controlled by beam current; acceleration voltage influences electron energy and screen impact.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8D2E2"/>
                </a:solidFill>
                <a:latin typeface="Aptos"/>
              </a:rPr>
              <a:t>05 — SCANNING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5F9"/>
                </a:solidFill>
                <a:latin typeface="Aptos"/>
              </a:rPr>
              <a:t>Step 2: steer the beam across the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B8CA"/>
                </a:solidFill>
                <a:latin typeface="Aptos"/>
              </a:rPr>
              <a:t>Magnetic or electrostatic fields change the beam’s direction so it can address different screen positions.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594360" cy="41148"/>
          </a:xfrm>
          <a:prstGeom prst="rect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AB8CA"/>
                </a:solidFill>
                <a:latin typeface="Aptos"/>
              </a:rPr>
              <a:t>06  /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057400"/>
            <a:ext cx="4206240" cy="3154680"/>
          </a:xfrm>
          <a:prstGeom prst="roundRect">
            <a:avLst/>
          </a:prstGeom>
          <a:solidFill>
            <a:srgbClr val="050A12"/>
          </a:solidFill>
          <a:ln w="16510">
            <a:solidFill>
              <a:srgbClr val="38D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7315200" y="2286000"/>
            <a:ext cx="0" cy="2697480"/>
          </a:xfrm>
          <a:prstGeom prst="line">
            <a:avLst/>
          </a:prstGeom>
          <a:ln w="7620">
            <a:solidFill>
              <a:srgbClr val="1E3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0" y="2286000"/>
            <a:ext cx="0" cy="2697480"/>
          </a:xfrm>
          <a:prstGeom prst="line">
            <a:avLst/>
          </a:prstGeom>
          <a:ln w="7620">
            <a:solidFill>
              <a:srgbClr val="1E3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29600" y="2286000"/>
            <a:ext cx="0" cy="2697480"/>
          </a:xfrm>
          <a:prstGeom prst="line">
            <a:avLst/>
          </a:prstGeom>
          <a:ln w="7620">
            <a:solidFill>
              <a:srgbClr val="1E3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686800" y="2286000"/>
            <a:ext cx="0" cy="2697480"/>
          </a:xfrm>
          <a:prstGeom prst="line">
            <a:avLst/>
          </a:prstGeom>
          <a:ln w="7620">
            <a:solidFill>
              <a:srgbClr val="1E3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0" y="2286000"/>
            <a:ext cx="0" cy="2697480"/>
          </a:xfrm>
          <a:prstGeom prst="line">
            <a:avLst/>
          </a:prstGeom>
          <a:ln w="7620">
            <a:solidFill>
              <a:srgbClr val="1E3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601200" y="2286000"/>
            <a:ext cx="0" cy="2697480"/>
          </a:xfrm>
          <a:prstGeom prst="line">
            <a:avLst/>
          </a:prstGeom>
          <a:ln w="7620">
            <a:solidFill>
              <a:srgbClr val="1E3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58400" y="2286000"/>
            <a:ext cx="0" cy="2697480"/>
          </a:xfrm>
          <a:prstGeom prst="line">
            <a:avLst/>
          </a:prstGeom>
          <a:ln w="7620">
            <a:solidFill>
              <a:srgbClr val="1E3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12280" y="2679192"/>
            <a:ext cx="3749040" cy="0"/>
          </a:xfrm>
          <a:prstGeom prst="line">
            <a:avLst/>
          </a:prstGeom>
          <a:ln w="7620">
            <a:solidFill>
              <a:srgbClr val="1E3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12280" y="3118104"/>
            <a:ext cx="3749040" cy="0"/>
          </a:xfrm>
          <a:prstGeom prst="line">
            <a:avLst/>
          </a:prstGeom>
          <a:ln w="7620">
            <a:solidFill>
              <a:srgbClr val="1E3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12280" y="3557016"/>
            <a:ext cx="3749040" cy="0"/>
          </a:xfrm>
          <a:prstGeom prst="line">
            <a:avLst/>
          </a:prstGeom>
          <a:ln w="7620">
            <a:solidFill>
              <a:srgbClr val="1E3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12280" y="3995928"/>
            <a:ext cx="3749040" cy="0"/>
          </a:xfrm>
          <a:prstGeom prst="line">
            <a:avLst/>
          </a:prstGeom>
          <a:ln w="7620">
            <a:solidFill>
              <a:srgbClr val="1E3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12280" y="4434840"/>
            <a:ext cx="3749040" cy="0"/>
          </a:xfrm>
          <a:prstGeom prst="line">
            <a:avLst/>
          </a:prstGeom>
          <a:ln w="7620">
            <a:solidFill>
              <a:srgbClr val="1E3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03720" y="2423160"/>
            <a:ext cx="3538728" cy="0"/>
          </a:xfrm>
          <a:prstGeom prst="line">
            <a:avLst/>
          </a:prstGeom>
          <a:ln w="13970">
            <a:solidFill>
              <a:srgbClr val="38D2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903720" y="2423160"/>
            <a:ext cx="3538728" cy="347472"/>
          </a:xfrm>
          <a:prstGeom prst="line">
            <a:avLst/>
          </a:prstGeom>
          <a:ln w="9525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903720" y="2770632"/>
            <a:ext cx="3538728" cy="0"/>
          </a:xfrm>
          <a:prstGeom prst="line">
            <a:avLst/>
          </a:prstGeom>
          <a:ln w="13970">
            <a:solidFill>
              <a:srgbClr val="255E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6903720" y="2770632"/>
            <a:ext cx="3538728" cy="347471"/>
          </a:xfrm>
          <a:prstGeom prst="line">
            <a:avLst/>
          </a:prstGeom>
          <a:ln w="9525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903720" y="3118104"/>
            <a:ext cx="3538728" cy="0"/>
          </a:xfrm>
          <a:prstGeom prst="line">
            <a:avLst/>
          </a:prstGeom>
          <a:ln w="13970">
            <a:solidFill>
              <a:srgbClr val="38D2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903720" y="3118104"/>
            <a:ext cx="3538728" cy="347472"/>
          </a:xfrm>
          <a:prstGeom prst="line">
            <a:avLst/>
          </a:prstGeom>
          <a:ln w="9525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903720" y="3465576"/>
            <a:ext cx="3538728" cy="0"/>
          </a:xfrm>
          <a:prstGeom prst="line">
            <a:avLst/>
          </a:prstGeom>
          <a:ln w="13970">
            <a:solidFill>
              <a:srgbClr val="255E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903720" y="3465576"/>
            <a:ext cx="3538728" cy="347472"/>
          </a:xfrm>
          <a:prstGeom prst="line">
            <a:avLst/>
          </a:prstGeom>
          <a:ln w="9525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903720" y="3813048"/>
            <a:ext cx="3538728" cy="0"/>
          </a:xfrm>
          <a:prstGeom prst="line">
            <a:avLst/>
          </a:prstGeom>
          <a:ln w="13970">
            <a:solidFill>
              <a:srgbClr val="38D2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6903720" y="3813048"/>
            <a:ext cx="3538728" cy="347472"/>
          </a:xfrm>
          <a:prstGeom prst="line">
            <a:avLst/>
          </a:prstGeom>
          <a:ln w="9525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03720" y="4160520"/>
            <a:ext cx="3538728" cy="0"/>
          </a:xfrm>
          <a:prstGeom prst="line">
            <a:avLst/>
          </a:prstGeom>
          <a:ln w="13970">
            <a:solidFill>
              <a:srgbClr val="255E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6903720" y="4160520"/>
            <a:ext cx="3538728" cy="347472"/>
          </a:xfrm>
          <a:prstGeom prst="line">
            <a:avLst/>
          </a:prstGeom>
          <a:ln w="9525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903720" y="4507992"/>
            <a:ext cx="3538728" cy="0"/>
          </a:xfrm>
          <a:prstGeom prst="line">
            <a:avLst/>
          </a:prstGeom>
          <a:ln w="13970">
            <a:solidFill>
              <a:srgbClr val="38D2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72400" y="534924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8D2E2"/>
                </a:solidFill>
                <a:latin typeface="Aptos"/>
              </a:rPr>
              <a:t>Raster scan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2240280"/>
            <a:ext cx="2514600" cy="109728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2240280"/>
            <a:ext cx="54864" cy="1097280"/>
          </a:xfrm>
          <a:prstGeom prst="rect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2404872"/>
            <a:ext cx="21305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38D2E2"/>
                </a:solidFill>
                <a:latin typeface="Aptos"/>
              </a:rPr>
              <a:t>Horizontal sweep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" y="2834640"/>
            <a:ext cx="2130552" cy="38404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Aptos"/>
              </a:rPr>
              <a:t>Moves the beam left to right.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66160" y="2240280"/>
            <a:ext cx="2514600" cy="109728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566160" y="2240280"/>
            <a:ext cx="54864" cy="109728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67328" y="2404872"/>
            <a:ext cx="21305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BE5C"/>
                </a:solidFill>
                <a:latin typeface="Aptos"/>
              </a:rPr>
              <a:t>Vertical sweep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67328" y="2834640"/>
            <a:ext cx="2130552" cy="38404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Aptos"/>
              </a:rPr>
              <a:t>Moves the scan from top to bottom.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" y="3657600"/>
            <a:ext cx="2514600" cy="109728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" y="3657600"/>
            <a:ext cx="54864" cy="1097280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408" y="3822191"/>
            <a:ext cx="21305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5B8DFF"/>
                </a:solidFill>
                <a:latin typeface="Aptos"/>
              </a:rPr>
              <a:t>Blanking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" y="4251960"/>
            <a:ext cx="2130552" cy="38404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Aptos"/>
              </a:rPr>
              <a:t>Beam is suppressed during retrace.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566160" y="3657600"/>
            <a:ext cx="2514600" cy="109728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566160" y="3657600"/>
            <a:ext cx="54864" cy="1097280"/>
          </a:xfrm>
          <a:prstGeom prst="rect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67328" y="3822191"/>
            <a:ext cx="21305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66DCA5"/>
                </a:solidFill>
                <a:latin typeface="Aptos"/>
              </a:rPr>
              <a:t>Synchronization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67328" y="4251960"/>
            <a:ext cx="2130552" cy="38404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Aptos"/>
              </a:rPr>
              <a:t>Keeps scanning aligned with the signal.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5230368"/>
            <a:ext cx="53035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Aptos"/>
              </a:rPr>
              <a:t>The beam scans repeatedly; changing its intensity during the scan produces the image.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8D2E2"/>
                </a:solidFill>
                <a:latin typeface="Aptos"/>
              </a:rPr>
              <a:t>06 — LIGHT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5F9"/>
                </a:solidFill>
                <a:latin typeface="Aptos"/>
              </a:rPr>
              <a:t>Step 3: phosphor converts electron energy into visible 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B8CA"/>
                </a:solidFill>
                <a:latin typeface="Aptos"/>
              </a:rPr>
              <a:t>The screen glows when struck by electrons; its persistence determines how quickly the light decays.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594360" cy="41148"/>
          </a:xfrm>
          <a:prstGeom prst="rect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AB8CA"/>
                </a:solidFill>
                <a:latin typeface="Aptos"/>
              </a:rPr>
              <a:t>07  /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4800600" cy="297180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95728"/>
            <a:ext cx="4206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8D2E2"/>
                </a:solidFill>
                <a:latin typeface="Aptos"/>
              </a:rPr>
              <a:t>MONOCHROME CRT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2880360"/>
            <a:ext cx="4114800" cy="1600200"/>
          </a:xfrm>
          <a:prstGeom prst="rect">
            <a:avLst/>
          </a:prstGeom>
          <a:solidFill>
            <a:srgbClr val="050A12"/>
          </a:solidFill>
          <a:ln w="16510">
            <a:solidFill>
              <a:srgbClr val="38D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325880" y="3063240"/>
            <a:ext cx="3749040" cy="0"/>
          </a:xfrm>
          <a:prstGeom prst="line">
            <a:avLst/>
          </a:prstGeom>
          <a:ln w="7620">
            <a:solidFill>
              <a:srgbClr val="164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25880" y="3291840"/>
            <a:ext cx="3749040" cy="0"/>
          </a:xfrm>
          <a:prstGeom prst="line">
            <a:avLst/>
          </a:prstGeom>
          <a:ln w="7620">
            <a:solidFill>
              <a:srgbClr val="164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25880" y="3520440"/>
            <a:ext cx="3749040" cy="0"/>
          </a:xfrm>
          <a:prstGeom prst="line">
            <a:avLst/>
          </a:prstGeom>
          <a:ln w="7620">
            <a:solidFill>
              <a:srgbClr val="164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25880" y="3749039"/>
            <a:ext cx="3749040" cy="0"/>
          </a:xfrm>
          <a:prstGeom prst="line">
            <a:avLst/>
          </a:prstGeom>
          <a:ln w="7620">
            <a:solidFill>
              <a:srgbClr val="164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25880" y="3977639"/>
            <a:ext cx="3749040" cy="0"/>
          </a:xfrm>
          <a:prstGeom prst="line">
            <a:avLst/>
          </a:prstGeom>
          <a:ln w="7620">
            <a:solidFill>
              <a:srgbClr val="164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325880" y="4206240"/>
            <a:ext cx="3749040" cy="0"/>
          </a:xfrm>
          <a:prstGeom prst="line">
            <a:avLst/>
          </a:prstGeom>
          <a:ln w="7620">
            <a:solidFill>
              <a:srgbClr val="164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1417320" y="3246120"/>
            <a:ext cx="64008" cy="64008"/>
          </a:xfrm>
          <a:prstGeom prst="ellipse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09928" y="3502152"/>
            <a:ext cx="64008" cy="64008"/>
          </a:xfrm>
          <a:prstGeom prst="ellipse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02536" y="3758183"/>
            <a:ext cx="64008" cy="64008"/>
          </a:xfrm>
          <a:prstGeom prst="ellipse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295144" y="3246120"/>
            <a:ext cx="64008" cy="64008"/>
          </a:xfrm>
          <a:prstGeom prst="ellipse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87752" y="3502152"/>
            <a:ext cx="64008" cy="64008"/>
          </a:xfrm>
          <a:prstGeom prst="ellipse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80360" y="3758183"/>
            <a:ext cx="64008" cy="64008"/>
          </a:xfrm>
          <a:prstGeom prst="ellipse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172968" y="3246120"/>
            <a:ext cx="64008" cy="64008"/>
          </a:xfrm>
          <a:prstGeom prst="ellipse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465576" y="3502152"/>
            <a:ext cx="64008" cy="64008"/>
          </a:xfrm>
          <a:prstGeom prst="ellipse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8184" y="3758183"/>
            <a:ext cx="64008" cy="64008"/>
          </a:xfrm>
          <a:prstGeom prst="ellipse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050791" y="3246120"/>
            <a:ext cx="64008" cy="64008"/>
          </a:xfrm>
          <a:prstGeom prst="ellipse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343400" y="3502152"/>
            <a:ext cx="64008" cy="64008"/>
          </a:xfrm>
          <a:prstGeom prst="ellipse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36008" y="3758183"/>
            <a:ext cx="64008" cy="64008"/>
          </a:xfrm>
          <a:prstGeom prst="ellipse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61772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AAB8CA"/>
                </a:solidFill>
                <a:latin typeface="Aptos"/>
              </a:rPr>
              <a:t>Brightness varies with beam intensity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2148840"/>
            <a:ext cx="5257800" cy="297180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395728"/>
            <a:ext cx="4480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BE5C"/>
                </a:solidFill>
                <a:latin typeface="Aptos"/>
              </a:rPr>
              <a:t>COLOUR CRT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880360"/>
            <a:ext cx="4572000" cy="1600200"/>
          </a:xfrm>
          <a:prstGeom prst="rect">
            <a:avLst/>
          </a:prstGeom>
          <a:solidFill>
            <a:srgbClr val="050A12"/>
          </a:solidFill>
          <a:ln w="16510">
            <a:solidFill>
              <a:srgbClr val="5B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601968" y="3127248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84264" y="3127248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766559" y="3127248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31736" y="3127248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114031" y="3127248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196327" y="3127248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461504" y="3127248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543800" y="3127248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626096" y="3127248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891271" y="3127248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973567" y="3127248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55863" y="3127248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321040" y="3127248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403336" y="3127248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85632" y="3127248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750808" y="3127248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833104" y="3127248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915400" y="3127248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180576" y="3127248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262872" y="3127248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345167" y="3127248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610344" y="3127248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692640" y="3127248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774936" y="3127248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040112" y="3127248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122408" y="3127248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204704" y="3127248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469880" y="3127248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552176" y="3127248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634472" y="3127248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601968" y="3456432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84264" y="3456432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66559" y="3456432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031736" y="3456432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114031" y="3456432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196327" y="3456432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461504" y="3456432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543800" y="3456432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626096" y="3456432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91271" y="3456432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73567" y="3456432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055863" y="3456432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321040" y="3456432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403336" y="3456432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85632" y="3456432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750808" y="3456432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833104" y="3456432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915400" y="3456432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180576" y="3456432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262872" y="3456432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345167" y="3456432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610344" y="3456432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692640" y="3456432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774936" y="3456432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040112" y="3456432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122408" y="3456432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0204704" y="3456432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0469880" y="3456432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552176" y="3456432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634472" y="3456432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601968" y="3785615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684264" y="3785615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766559" y="3785615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031736" y="3785615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7114031" y="3785615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7196327" y="3785615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461504" y="3785615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543800" y="3785615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626096" y="3785615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891271" y="3785615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973567" y="3785615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8055863" y="3785615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321040" y="3785615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403336" y="3785615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485632" y="3785615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750808" y="3785615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8833104" y="3785615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8915400" y="3785615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9180576" y="3785615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9262872" y="3785615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9345167" y="3785615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610344" y="3785615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692640" y="3785615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9774936" y="3785615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040112" y="3785615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0122408" y="3785615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0204704" y="3785615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0469880" y="3785615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0552176" y="3785615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0634472" y="3785615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6601968" y="4114800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6684264" y="4114800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6766559" y="4114800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7031736" y="4114800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7114031" y="4114800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7196327" y="4114800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7461504" y="4114800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7543800" y="4114800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7626096" y="4114800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7891271" y="4114800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973567" y="4114800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8055863" y="4114800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8321040" y="4114800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8403336" y="4114800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8485632" y="4114800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750808" y="4114800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8833104" y="4114800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8915400" y="4114800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180576" y="4114800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262872" y="4114800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9345167" y="4114800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9610344" y="4114800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9692640" y="4114800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9774936" y="4114800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040112" y="4114800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122408" y="4114800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0204704" y="4114800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469880" y="4114800"/>
            <a:ext cx="59436" cy="59436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0552176" y="4114800"/>
            <a:ext cx="59436" cy="59436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0634472" y="4114800"/>
            <a:ext cx="59436" cy="59436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400800" y="4617720"/>
            <a:ext cx="4572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AAB8CA"/>
                </a:solidFill>
                <a:latin typeface="Aptos"/>
              </a:rPr>
              <a:t>Red + green + blue phosphors combine to create colour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14400" y="5559552"/>
            <a:ext cx="104241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Aptos"/>
              </a:rPr>
              <a:t>A colour CRT uses three electron beams and a shadow mask or aperture grille to direct each beam to its matching phosphor colour.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8D2E2"/>
                </a:solidFill>
                <a:latin typeface="Aptos"/>
              </a:rPr>
              <a:t>07 — THE FULL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5F9"/>
                </a:solidFill>
                <a:latin typeface="Aptos"/>
              </a:rPr>
              <a:t>From electrical signal to a stable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B8CA"/>
                </a:solidFill>
                <a:latin typeface="Aptos"/>
              </a:rPr>
              <a:t>A CRT display depends on coordinated control of position, intensity, and timing.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594360" cy="41148"/>
          </a:xfrm>
          <a:prstGeom prst="rect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AB8CA"/>
                </a:solidFill>
                <a:latin typeface="Aptos"/>
              </a:rPr>
              <a:t>08  /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23160"/>
            <a:ext cx="1874519" cy="141732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5B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660904"/>
            <a:ext cx="1691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5B8DFF"/>
                </a:solidFill>
                <a:latin typeface="Aptos"/>
              </a:rPr>
              <a:t>VIDEO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090672"/>
            <a:ext cx="1645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Aptos"/>
              </a:rPr>
              <a:t>Image brightness / colour data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95728" y="3127248"/>
            <a:ext cx="393192" cy="0"/>
          </a:xfrm>
          <a:prstGeom prst="line">
            <a:avLst/>
          </a:prstGeom>
          <a:ln w="19050">
            <a:solidFill>
              <a:srgbClr val="AA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40" y="2423160"/>
            <a:ext cx="1874519" cy="141732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38D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660904"/>
            <a:ext cx="1691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38D2E2"/>
                </a:solidFill>
                <a:latin typeface="Aptos"/>
              </a:rPr>
              <a:t>CONTROL CIRCUITS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3090672"/>
            <a:ext cx="1645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Aptos"/>
              </a:rPr>
              <a:t>Set beam intensity and scan timing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27448" y="3127248"/>
            <a:ext cx="393192" cy="0"/>
          </a:xfrm>
          <a:prstGeom prst="line">
            <a:avLst/>
          </a:prstGeom>
          <a:ln w="19050">
            <a:solidFill>
              <a:srgbClr val="AA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66360" y="2423160"/>
            <a:ext cx="1874519" cy="141732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2660904"/>
            <a:ext cx="1691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BE5C"/>
                </a:solidFill>
                <a:latin typeface="Aptos"/>
              </a:rPr>
              <a:t>DEFLECTION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6088" y="3090672"/>
            <a:ext cx="1645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Aptos"/>
              </a:rPr>
              <a:t>Position beam across the screen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59168" y="3127248"/>
            <a:ext cx="393191" cy="0"/>
          </a:xfrm>
          <a:prstGeom prst="line">
            <a:avLst/>
          </a:prstGeom>
          <a:ln w="19050">
            <a:solidFill>
              <a:srgbClr val="AA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98079" y="2423160"/>
            <a:ext cx="1874519" cy="141732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66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19" y="2660904"/>
            <a:ext cx="1691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66DCA5"/>
                </a:solidFill>
                <a:latin typeface="Aptos"/>
              </a:rPr>
              <a:t>PHOSPHOR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7" y="3090672"/>
            <a:ext cx="1645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Aptos"/>
              </a:rPr>
              <a:t>Emits light at each addressed point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90888" y="3127248"/>
            <a:ext cx="393192" cy="0"/>
          </a:xfrm>
          <a:prstGeom prst="line">
            <a:avLst/>
          </a:prstGeom>
          <a:ln w="19050">
            <a:solidFill>
              <a:srgbClr val="AAB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829800" y="2423160"/>
            <a:ext cx="1874519" cy="141732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FF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21240" y="2660904"/>
            <a:ext cx="1691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7070"/>
                </a:solidFill>
                <a:latin typeface="Aptos"/>
              </a:rPr>
              <a:t>PERSISTENCE + EYE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9528" y="3090672"/>
            <a:ext cx="16459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Aptos"/>
              </a:rPr>
              <a:t>Rapid refresh appears continuous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526280"/>
            <a:ext cx="4800600" cy="114300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4526280"/>
            <a:ext cx="54864" cy="1143000"/>
          </a:xfrm>
          <a:prstGeom prst="rect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4690872"/>
            <a:ext cx="44165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38D2E2"/>
                </a:solidFill>
                <a:latin typeface="Aptos"/>
              </a:rPr>
              <a:t>Position + intensity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5120640"/>
            <a:ext cx="441655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Aptos"/>
              </a:rPr>
              <a:t>The scan decides where light appears; the video signal decides how bright each point is.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526280"/>
            <a:ext cx="4800600" cy="114300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4526280"/>
            <a:ext cx="54864" cy="114300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01968" y="4690872"/>
            <a:ext cx="441655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BE5C"/>
                </a:solidFill>
                <a:latin typeface="Aptos"/>
              </a:rPr>
              <a:t>Refresh + persistence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5120640"/>
            <a:ext cx="4416552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Aptos"/>
              </a:rPr>
              <a:t>Repeated scans refresh the picture before the previous image fades noticeably.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8D2E2"/>
                </a:solidFill>
                <a:latin typeface="Aptos"/>
              </a:rPr>
              <a:t>08 —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5F9"/>
                </a:solidFill>
                <a:latin typeface="Aptos"/>
              </a:rPr>
              <a:t>Why CRTs were valued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B8CA"/>
                </a:solidFill>
                <a:latin typeface="Aptos"/>
              </a:rPr>
              <a:t>CRT strengths followed directly from their electron-beam and phosphor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594360" cy="41148"/>
          </a:xfrm>
          <a:prstGeom prst="rect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AB8CA"/>
                </a:solidFill>
                <a:latin typeface="Aptos"/>
              </a:rPr>
              <a:t>09  /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5074920" cy="123444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54864" cy="1234440"/>
          </a:xfrm>
          <a:prstGeom prst="rect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13432"/>
            <a:ext cx="469087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38D2E2"/>
                </a:solidFill>
                <a:latin typeface="Aptos"/>
              </a:rPr>
              <a:t>Motion clarity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743200"/>
            <a:ext cx="4690872" cy="5212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Aptos"/>
              </a:rPr>
              <a:t>Fast response and little sample-and-hold blur.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2148840"/>
            <a:ext cx="5074920" cy="123444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2148840"/>
            <a:ext cx="54864" cy="1234440"/>
          </a:xfrm>
          <a:prstGeom prst="rect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2313432"/>
            <a:ext cx="469087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5B8DFF"/>
                </a:solidFill>
                <a:latin typeface="Aptos"/>
              </a:rPr>
              <a:t>Viewing angles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743200"/>
            <a:ext cx="4690872" cy="5212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Aptos"/>
              </a:rPr>
              <a:t>Image quality remains broadly consistent off-axis.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703320"/>
            <a:ext cx="5074920" cy="123444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3703320"/>
            <a:ext cx="54864" cy="123444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867911"/>
            <a:ext cx="469087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BE5C"/>
                </a:solidFill>
                <a:latin typeface="Aptos"/>
              </a:rPr>
              <a:t>Native resolution flexibility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297680"/>
            <a:ext cx="4690872" cy="5212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Aptos"/>
              </a:rPr>
              <a:t>Can display multiple resolutions without a fixed pixel grid.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3703320"/>
            <a:ext cx="5074920" cy="123444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3703320"/>
            <a:ext cx="54864" cy="1234440"/>
          </a:xfrm>
          <a:prstGeom prst="rect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3867911"/>
            <a:ext cx="4690872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66DCA5"/>
                </a:solidFill>
                <a:latin typeface="Aptos"/>
              </a:rPr>
              <a:t>Black level &amp; contrast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4297680"/>
            <a:ext cx="4690872" cy="5212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Aptos"/>
              </a:rPr>
              <a:t>A dark screen can emit very little light in unlit areas.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AAB8CA"/>
                </a:solidFill>
                <a:latin typeface="Aptos"/>
              </a:rPr>
              <a:t>These advantages are context-dependent: image quality also depends on tube design, calibration, and operating conditions.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8D2E2"/>
                </a:solidFill>
                <a:latin typeface="Aptos"/>
              </a:rPr>
              <a:t>09 —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5F9"/>
                </a:solidFill>
                <a:latin typeface="Aptos"/>
              </a:rPr>
              <a:t>Why CRTs were largely replaced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B8CA"/>
                </a:solidFill>
                <a:latin typeface="Aptos"/>
              </a:rPr>
              <a:t>Their physical construction creates trade-offs that modern flat-panel displays largely avoid.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594360" cy="41148"/>
          </a:xfrm>
          <a:prstGeom prst="rect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AB8CA"/>
                </a:solidFill>
                <a:latin typeface="Aptos"/>
              </a:rPr>
              <a:t>10  /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57400"/>
            <a:ext cx="10424160" cy="658368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992" y="2240280"/>
            <a:ext cx="256032" cy="256032"/>
          </a:xfrm>
          <a:prstGeom prst="ellipse">
            <a:avLst/>
          </a:prstGeom>
          <a:solidFill>
            <a:srgbClr val="FF7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36192" y="2185416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7070"/>
                </a:solidFill>
                <a:latin typeface="Aptos"/>
              </a:rPr>
              <a:t>Size &amp; weight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85416"/>
            <a:ext cx="72237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Aptos"/>
              </a:rPr>
              <a:t>Large glass vacuum tube makes the device deep and heavy.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880360"/>
            <a:ext cx="10424160" cy="658368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8992" y="3063240"/>
            <a:ext cx="256032" cy="256032"/>
          </a:xfrm>
          <a:prstGeom prst="ellipse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36192" y="3008376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BE5C"/>
                </a:solidFill>
                <a:latin typeface="Aptos"/>
              </a:rPr>
              <a:t>Power &amp; heat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008376"/>
            <a:ext cx="72237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Aptos"/>
              </a:rPr>
              <a:t>High-voltage electronics and beam systems consume energy and generate heat.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703320"/>
            <a:ext cx="10424160" cy="658368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78992" y="3886200"/>
            <a:ext cx="256032" cy="256032"/>
          </a:xfrm>
          <a:prstGeom prst="ellipse">
            <a:avLst/>
          </a:prstGeom>
          <a:solidFill>
            <a:srgbClr val="5B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36192" y="3831335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5B8DFF"/>
                </a:solidFill>
                <a:latin typeface="Aptos"/>
              </a:rPr>
              <a:t>Geometry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831335"/>
            <a:ext cx="72237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Aptos"/>
              </a:rPr>
              <a:t>Curved screens can show distortion; convergence and focus need calibration.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526280"/>
            <a:ext cx="10424160" cy="658368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" y="4709160"/>
            <a:ext cx="256032" cy="256032"/>
          </a:xfrm>
          <a:prstGeom prst="ellipse">
            <a:avLst/>
          </a:prstGeom>
          <a:solidFill>
            <a:srgbClr val="66D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36192" y="4654296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66DCA5"/>
                </a:solidFill>
                <a:latin typeface="Aptos"/>
              </a:rPr>
              <a:t>Environmental handling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654296"/>
            <a:ext cx="72237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Aptos"/>
              </a:rPr>
              <a:t>Heavy glass and electronic components require appropriate recycling.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623560"/>
            <a:ext cx="10241280" cy="502920"/>
          </a:xfrm>
          <a:prstGeom prst="roundRect">
            <a:avLst/>
          </a:prstGeom>
          <a:solidFill>
            <a:srgbClr val="2F1C23"/>
          </a:solidFill>
          <a:ln w="16510">
            <a:solidFill>
              <a:srgbClr val="FF7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5760720"/>
            <a:ext cx="9829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1F5F9"/>
                </a:solidFill>
                <a:latin typeface="Aptos"/>
              </a:rPr>
              <a:t>Safety note: CRTs can retain hazardous high voltage even after unplugging; servicing belongs to trained technicians.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8D2E2"/>
                </a:solidFill>
                <a:latin typeface="Aptos"/>
              </a:rPr>
              <a:t>10 —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5F9"/>
                </a:solidFill>
                <a:latin typeface="Aptos"/>
              </a:rPr>
              <a:t>CRT vs modern flat-panel displays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B8CA"/>
                </a:solidFill>
                <a:latin typeface="Aptos"/>
              </a:rPr>
              <a:t>No technology wins every category; the right choice depends on the use case.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594360" cy="41148"/>
          </a:xfrm>
          <a:prstGeom prst="rect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AB8CA"/>
                </a:solidFill>
                <a:latin typeface="Aptos"/>
              </a:rPr>
              <a:t>11  / 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2057400" cy="475488"/>
          </a:xfrm>
          <a:prstGeom prst="rect">
            <a:avLst/>
          </a:prstGeom>
          <a:solidFill>
            <a:srgbClr val="1D2B3F"/>
          </a:solidFill>
          <a:ln w="16510">
            <a:solidFill>
              <a:srgbClr val="38D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3" y="2185416"/>
            <a:ext cx="19476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38D2E2"/>
                </a:solidFill>
                <a:latin typeface="Aptos"/>
              </a:rPr>
              <a:t>CRITERION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2057400"/>
            <a:ext cx="1965960" cy="475488"/>
          </a:xfrm>
          <a:prstGeom prst="rect">
            <a:avLst/>
          </a:prstGeom>
          <a:solidFill>
            <a:srgbClr val="1D2B3F"/>
          </a:solidFill>
          <a:ln w="16510">
            <a:solidFill>
              <a:srgbClr val="5B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26664" y="2185416"/>
            <a:ext cx="1856231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1F5F9"/>
                </a:solidFill>
                <a:latin typeface="Aptos"/>
              </a:rPr>
              <a:t>CRT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57400"/>
            <a:ext cx="1965960" cy="475488"/>
          </a:xfrm>
          <a:prstGeom prst="rect">
            <a:avLst/>
          </a:prstGeom>
          <a:solidFill>
            <a:srgbClr val="1D2B3F"/>
          </a:solidFill>
          <a:ln w="16510">
            <a:solidFill>
              <a:srgbClr val="5B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9783" y="2185416"/>
            <a:ext cx="1856231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1F5F9"/>
                </a:solidFill>
                <a:latin typeface="Aptos"/>
              </a:rPr>
              <a:t>LCD / LED-LCD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2057400"/>
            <a:ext cx="1965960" cy="475488"/>
          </a:xfrm>
          <a:prstGeom prst="rect">
            <a:avLst/>
          </a:prstGeom>
          <a:solidFill>
            <a:srgbClr val="1D2B3F"/>
          </a:solidFill>
          <a:ln w="16510">
            <a:solidFill>
              <a:srgbClr val="5B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2903" y="2185416"/>
            <a:ext cx="1856231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1F5F9"/>
                </a:solidFill>
                <a:latin typeface="Aptos"/>
              </a:rPr>
              <a:t>OLED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0" y="2057400"/>
            <a:ext cx="1965960" cy="475488"/>
          </a:xfrm>
          <a:prstGeom prst="rect">
            <a:avLst/>
          </a:prstGeom>
          <a:solidFill>
            <a:srgbClr val="1D2B3F"/>
          </a:solidFill>
          <a:ln w="16510">
            <a:solidFill>
              <a:srgbClr val="5B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36024" y="2185416"/>
            <a:ext cx="1856231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1F5F9"/>
                </a:solidFill>
                <a:latin typeface="Aptos"/>
              </a:rPr>
              <a:t>E-PAPER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532888"/>
            <a:ext cx="2057400" cy="566928"/>
          </a:xfrm>
          <a:prstGeom prst="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2633472"/>
            <a:ext cx="1911095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BE5C"/>
                </a:solidFill>
                <a:latin typeface="Aptos"/>
              </a:rPr>
              <a:t>Image mechanism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71800" y="2532888"/>
            <a:ext cx="1965960" cy="566928"/>
          </a:xfrm>
          <a:prstGeom prst="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44952" y="2633472"/>
            <a:ext cx="181965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Aptos"/>
              </a:rPr>
              <a:t>Electron beam + phosphor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74920" y="2532888"/>
            <a:ext cx="1965960" cy="566928"/>
          </a:xfrm>
          <a:prstGeom prst="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48072" y="2633472"/>
            <a:ext cx="181965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Aptos"/>
              </a:rPr>
              <a:t>Liquid crystal + backlight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2532888"/>
            <a:ext cx="1965960" cy="566928"/>
          </a:xfrm>
          <a:prstGeom prst="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51192" y="2633472"/>
            <a:ext cx="181965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Aptos"/>
              </a:rPr>
              <a:t>Self-emitting pixels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81160" y="2532888"/>
            <a:ext cx="1965960" cy="566928"/>
          </a:xfrm>
          <a:prstGeom prst="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54312" y="2633472"/>
            <a:ext cx="181965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Aptos"/>
              </a:rPr>
              <a:t>Reflective particles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099816"/>
            <a:ext cx="2057400" cy="566928"/>
          </a:xfrm>
          <a:prstGeom prst="rect">
            <a:avLst/>
          </a:prstGeom>
          <a:solidFill>
            <a:srgbClr val="121C2B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" y="3200400"/>
            <a:ext cx="1911095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BE5C"/>
                </a:solidFill>
                <a:latin typeface="Aptos"/>
              </a:rPr>
              <a:t>Form factor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71800" y="3099816"/>
            <a:ext cx="1965960" cy="566928"/>
          </a:xfrm>
          <a:prstGeom prst="rect">
            <a:avLst/>
          </a:prstGeom>
          <a:solidFill>
            <a:srgbClr val="121C2B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44952" y="3200400"/>
            <a:ext cx="181965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Aptos"/>
              </a:rPr>
              <a:t>Deep, heavy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74920" y="3099816"/>
            <a:ext cx="1965960" cy="566928"/>
          </a:xfrm>
          <a:prstGeom prst="rect">
            <a:avLst/>
          </a:prstGeom>
          <a:solidFill>
            <a:srgbClr val="121C2B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48072" y="3200400"/>
            <a:ext cx="181965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Aptos"/>
              </a:rPr>
              <a:t>Thin, light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78040" y="3099816"/>
            <a:ext cx="1965960" cy="566928"/>
          </a:xfrm>
          <a:prstGeom prst="rect">
            <a:avLst/>
          </a:prstGeom>
          <a:solidFill>
            <a:srgbClr val="121C2B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51192" y="3200400"/>
            <a:ext cx="181965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Aptos"/>
              </a:rPr>
              <a:t>Very thin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81160" y="3099816"/>
            <a:ext cx="1965960" cy="566928"/>
          </a:xfrm>
          <a:prstGeom prst="rect">
            <a:avLst/>
          </a:prstGeom>
          <a:solidFill>
            <a:srgbClr val="121C2B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54312" y="3200400"/>
            <a:ext cx="181965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Aptos"/>
              </a:rPr>
              <a:t>Thin, light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666744"/>
            <a:ext cx="2057400" cy="566928"/>
          </a:xfrm>
          <a:prstGeom prst="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" y="3767328"/>
            <a:ext cx="1911095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BE5C"/>
                </a:solidFill>
                <a:latin typeface="Aptos"/>
              </a:rPr>
              <a:t>Motion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71800" y="3666744"/>
            <a:ext cx="1965960" cy="566928"/>
          </a:xfrm>
          <a:prstGeom prst="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44952" y="3767328"/>
            <a:ext cx="181965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Aptos"/>
              </a:rPr>
              <a:t>Very fast response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74920" y="3666744"/>
            <a:ext cx="1965960" cy="566928"/>
          </a:xfrm>
          <a:prstGeom prst="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48072" y="3767328"/>
            <a:ext cx="181965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Aptos"/>
              </a:rPr>
              <a:t>Varies by panel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78040" y="3666744"/>
            <a:ext cx="1965960" cy="566928"/>
          </a:xfrm>
          <a:prstGeom prst="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51192" y="3767328"/>
            <a:ext cx="181965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Aptos"/>
              </a:rPr>
              <a:t>Very fast response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81160" y="3666744"/>
            <a:ext cx="1965960" cy="566928"/>
          </a:xfrm>
          <a:prstGeom prst="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54312" y="3767328"/>
            <a:ext cx="181965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Aptos"/>
              </a:rPr>
              <a:t>Slow refresh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233672"/>
            <a:ext cx="2057400" cy="566928"/>
          </a:xfrm>
          <a:prstGeom prst="rect">
            <a:avLst/>
          </a:prstGeom>
          <a:solidFill>
            <a:srgbClr val="121C2B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" y="4334256"/>
            <a:ext cx="1911095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BE5C"/>
                </a:solidFill>
                <a:latin typeface="Aptos"/>
              </a:rPr>
              <a:t>Power profile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71800" y="4233672"/>
            <a:ext cx="1965960" cy="566928"/>
          </a:xfrm>
          <a:prstGeom prst="rect">
            <a:avLst/>
          </a:prstGeom>
          <a:solidFill>
            <a:srgbClr val="121C2B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44952" y="4334256"/>
            <a:ext cx="181965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Aptos"/>
              </a:rPr>
              <a:t>Relatively high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74920" y="4233672"/>
            <a:ext cx="1965960" cy="566928"/>
          </a:xfrm>
          <a:prstGeom prst="rect">
            <a:avLst/>
          </a:prstGeom>
          <a:solidFill>
            <a:srgbClr val="121C2B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48072" y="4334256"/>
            <a:ext cx="181965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Aptos"/>
              </a:rPr>
              <a:t>Moderate; varies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78040" y="4233672"/>
            <a:ext cx="1965960" cy="566928"/>
          </a:xfrm>
          <a:prstGeom prst="rect">
            <a:avLst/>
          </a:prstGeom>
          <a:solidFill>
            <a:srgbClr val="121C2B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51192" y="4334256"/>
            <a:ext cx="181965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Aptos"/>
              </a:rPr>
              <a:t>Content-dependent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281160" y="4233672"/>
            <a:ext cx="1965960" cy="566928"/>
          </a:xfrm>
          <a:prstGeom prst="rect">
            <a:avLst/>
          </a:prstGeom>
          <a:solidFill>
            <a:srgbClr val="121C2B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54312" y="4334256"/>
            <a:ext cx="181965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Aptos"/>
              </a:rPr>
              <a:t>Very low for static pages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" y="4800600"/>
            <a:ext cx="2057400" cy="566928"/>
          </a:xfrm>
          <a:prstGeom prst="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0392" y="4901184"/>
            <a:ext cx="1911095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BE5C"/>
                </a:solidFill>
                <a:latin typeface="Aptos"/>
              </a:rPr>
              <a:t>Typical role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71800" y="4800600"/>
            <a:ext cx="1965960" cy="566928"/>
          </a:xfrm>
          <a:prstGeom prst="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044952" y="4901184"/>
            <a:ext cx="181965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Aptos"/>
              </a:rPr>
              <a:t>Legacy / specialist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74920" y="4800600"/>
            <a:ext cx="1965960" cy="566928"/>
          </a:xfrm>
          <a:prstGeom prst="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48072" y="4901184"/>
            <a:ext cx="181965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Aptos"/>
              </a:rPr>
              <a:t>General-purpose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78040" y="4800600"/>
            <a:ext cx="1965960" cy="566928"/>
          </a:xfrm>
          <a:prstGeom prst="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51192" y="4901184"/>
            <a:ext cx="181965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Aptos"/>
              </a:rPr>
              <a:t>Premium video / phones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281160" y="4800600"/>
            <a:ext cx="1965960" cy="566928"/>
          </a:xfrm>
          <a:prstGeom prst="rect">
            <a:avLst/>
          </a:prstGeom>
          <a:solidFill>
            <a:srgbClr val="162133"/>
          </a:solidFill>
          <a:ln w="16510">
            <a:solidFill>
              <a:srgbClr val="1D2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354312" y="4901184"/>
            <a:ext cx="1819656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F1F5F9"/>
                </a:solidFill>
                <a:latin typeface="Aptos"/>
              </a:rPr>
              <a:t>Readers / signage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80" y="5715000"/>
            <a:ext cx="104241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AAB8CA"/>
                </a:solidFill>
                <a:latin typeface="Aptos"/>
              </a:rPr>
              <a:t>Performance varies by model; “LED display” can mean direct-view LED or an LCD using LED backlighting.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8D2E2"/>
                </a:solidFill>
                <a:latin typeface="Aptos"/>
              </a:rPr>
              <a:t>11 —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F1F5F9"/>
                </a:solidFill>
                <a:latin typeface="Aptos"/>
              </a:rPr>
              <a:t>The 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88136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AAB8CA"/>
                </a:solidFill>
                <a:latin typeface="Aptos"/>
              </a:rPr>
              <a:t>CRTs show how a controlled stream of electrons can paint a moving image using light-emitting phosphor.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594360" cy="41148"/>
          </a:xfrm>
          <a:prstGeom prst="rect">
            <a:avLst/>
          </a:prstGeom>
          <a:solidFill>
            <a:srgbClr val="38D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AAB8CA"/>
                </a:solidFill>
                <a:latin typeface="Aptos"/>
              </a:rPr>
              <a:t>12  /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286000"/>
            <a:ext cx="2487168" cy="150876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38D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38D2E2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07792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1F5F9"/>
                </a:solidFill>
                <a:latin typeface="Aptos"/>
              </a:rPr>
              <a:t>Generate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73552"/>
            <a:ext cx="21031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AB8CA"/>
                </a:solidFill>
                <a:latin typeface="Aptos"/>
              </a:rPr>
              <a:t>The electron gun releases, controls, and focuses electrons.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79" y="2286000"/>
            <a:ext cx="2487168" cy="150876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5B8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6472" y="2487168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5B8D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2907792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1F5F9"/>
                </a:solidFill>
                <a:latin typeface="Aptos"/>
              </a:rPr>
              <a:t>Steer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3273552"/>
            <a:ext cx="21031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AB8CA"/>
                </a:solidFill>
                <a:latin typeface="Aptos"/>
              </a:rPr>
              <a:t>Deflection fields position the beam across the screen.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73952" y="2286000"/>
            <a:ext cx="2487168" cy="150876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FFB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38544" y="2487168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BE5C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544" y="2907792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1F5F9"/>
                </a:solidFill>
                <a:latin typeface="Aptos"/>
              </a:rPr>
              <a:t>Illuminate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544" y="3273552"/>
            <a:ext cx="21031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AB8CA"/>
                </a:solidFill>
                <a:latin typeface="Aptos"/>
              </a:rPr>
              <a:t>Phosphor emits visible light when struck by electrons.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36024" y="2286000"/>
            <a:ext cx="2487168" cy="1508760"/>
          </a:xfrm>
          <a:prstGeom prst="roundRect">
            <a:avLst/>
          </a:prstGeom>
          <a:solidFill>
            <a:srgbClr val="162133"/>
          </a:solidFill>
          <a:ln w="16510">
            <a:solidFill>
              <a:srgbClr val="66D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0616" y="2487168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66DCA5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0616" y="2907792"/>
            <a:ext cx="2057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1F5F9"/>
                </a:solidFill>
                <a:latin typeface="Aptos"/>
              </a:rPr>
              <a:t>Refresh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0616" y="3273552"/>
            <a:ext cx="21031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AB8CA"/>
                </a:solidFill>
                <a:latin typeface="Aptos"/>
              </a:rPr>
              <a:t>Repeated scanning and signal timing maintain the picture.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4389120"/>
            <a:ext cx="10149840" cy="914400"/>
          </a:xfrm>
          <a:prstGeom prst="roundRect">
            <a:avLst/>
          </a:prstGeom>
          <a:solidFill>
            <a:srgbClr val="1D2B3F"/>
          </a:solidFill>
          <a:ln w="16510">
            <a:solidFill>
              <a:srgbClr val="38D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4590288"/>
            <a:ext cx="20116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38D2E2"/>
                </a:solidFill>
                <a:latin typeface="Aptos"/>
              </a:rPr>
              <a:t>Final perspective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4553712"/>
            <a:ext cx="76809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1F5F9"/>
                </a:solidFill>
                <a:latin typeface="Aptos"/>
              </a:rPr>
              <a:t>Although CRTs have mostly given way to flat panels, their operating principle remains a clear example of signal processing, electron physics, and human visual perception working together.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97880"/>
            <a:ext cx="5029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BE5C"/>
                </a:solidFill>
                <a:latin typeface="Aptos"/>
              </a:rPr>
              <a:t>THANK YOU  •  QUESTIONS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5925312"/>
            <a:ext cx="5212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AB8CA"/>
                </a:solidFill>
                <a:latin typeface="Aptos"/>
              </a:rPr>
              <a:t>Editable slides • diagrams built from PowerPoint shapes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of Display Devices with Special Reference to Cathode-Ray Tubes (CRTs)</dc:title>
  <dc:subject>APC academic presentation</dc:subject>
  <dc:creator>OpenAI</dc:creator>
  <cp:keywords>CRT, display devices, electron beam, phosphor, APC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